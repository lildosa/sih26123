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62179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56692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B192C"/>
                </a:solidFill>
                <a:latin typeface="Calibri"/>
              </a:rPr>
              <a:t>• Problem Statement ID : </a:t>
            </a:r>
            <a:r>
              <a:rPr b="1" sz="1300">
                <a:solidFill>
                  <a:srgbClr val="0066CC"/>
                </a:solidFill>
                <a:latin typeface="Calibri"/>
              </a:rPr>
              <a:t>SIH26123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B192C"/>
                </a:solidFill>
                <a:latin typeface="Calibri"/>
              </a:rPr>
              <a:t>• Organization : </a:t>
            </a:r>
            <a:r>
              <a:rPr b="1" sz="1300">
                <a:solidFill>
                  <a:srgbClr val="0B192C"/>
                </a:solidFill>
                <a:latin typeface="Calibri"/>
              </a:rPr>
              <a:t>Bharat Electronics Limited (BEL)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B192C"/>
                </a:solidFill>
                <a:latin typeface="Calibri"/>
              </a:rPr>
              <a:t>• Domain &amp; Category : </a:t>
            </a:r>
            <a:r>
              <a:rPr b="1" sz="1300">
                <a:solidFill>
                  <a:srgbClr val="0B192C"/>
                </a:solidFill>
                <a:latin typeface="Calibri"/>
              </a:rPr>
              <a:t>Robotics and Drones  |  Software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B192C"/>
                </a:solidFill>
                <a:latin typeface="Calibri"/>
              </a:rPr>
              <a:t>• Problem Title : </a:t>
            </a:r>
            <a:r>
              <a:rPr b="1" sz="1300">
                <a:solidFill>
                  <a:srgbClr val="0F172A"/>
                </a:solidFill>
                <a:latin typeface="Calibri"/>
              </a:rPr>
              <a:t>Edge-AI Based Distributed Fleet Coordination for Autonomous Mobile Robots (AMRs) in Smart Warehouses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B192C"/>
                </a:solidFill>
                <a:latin typeface="Calibri"/>
              </a:rPr>
              <a:t>• Proposed Solution : </a:t>
            </a:r>
            <a:r>
              <a:rPr b="1" sz="1300">
                <a:solidFill>
                  <a:srgbClr val="EA580C"/>
                </a:solidFill>
                <a:latin typeface="Calibri"/>
              </a:rPr>
              <a:t>SwarmEdge — Decentralized P2P AMR Coordination Engine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B192C"/>
                </a:solidFill>
                <a:latin typeface="Calibri"/>
              </a:rPr>
              <a:t>• Hard Criteria : </a:t>
            </a:r>
            <a:r>
              <a:rPr b="1" sz="1300">
                <a:solidFill>
                  <a:srgbClr val="166534"/>
                </a:solidFill>
                <a:latin typeface="Calibri"/>
              </a:rPr>
              <a:t>Zero Inter-Robot Collisions (ISO 3691-4) &amp; ≥20% Makespan Speedup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B192C"/>
                </a:solidFill>
                <a:latin typeface="Calibri"/>
              </a:rPr>
              <a:t>• Target Platform : </a:t>
            </a:r>
            <a:r>
              <a:rPr b="1" sz="1300">
                <a:solidFill>
                  <a:srgbClr val="0B192C"/>
                </a:solidFill>
                <a:latin typeface="Calibri"/>
              </a:rPr>
              <a:t>Pure Rust 2024 on Raspberry Pi 4B/5 + Arduino Uno HAL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188720"/>
            <a:ext cx="42976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417320"/>
            <a:ext cx="374903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200">
                <a:solidFill>
                  <a:srgbClr val="0066CC"/>
                </a:solidFill>
              </a:defRPr>
            </a:pPr>
            <a:r>
              <a:t>DECENTRALIZED EDGE-AI FLEET ARCHITECTURE</a:t>
            </a:r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28800"/>
            <a:ext cx="3749039" cy="19504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4023360"/>
            <a:ext cx="3749039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B192C"/>
                </a:solidFill>
              </a:defRPr>
            </a:pPr>
            <a:r>
              <a:t>Key Innovation Summary: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✔ No Central Server: Eliminates Single Point of Failure (SPOF)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✔ Local Space-Time A*: 3D non-occupancy &amp; edge-swap safety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✔ Dynamic Deadlock Breaker: Local Wait-For-Graph cycle DFS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✔ Market Task Auctions: Multi-factor Contract Net Protocol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41148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>
              <a:defRPr sz="1200">
                <a:solidFill>
                  <a:srgbClr val="F1F5F9"/>
                </a:solidFill>
              </a:defRPr>
            </a:pPr>
            <a:r>
              <a:t>SIH26123 — SwarmEdge  |  Smart India Hackathon 2026  |  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Calibri"/>
              </a:defRPr>
            </a:pPr>
            <a:r>
              <a:t>SYSTEM OVERVIEW</a:t>
            </a:r>
          </a:p>
          <a:p>
            <a:pPr>
              <a:defRPr sz="2500" b="1">
                <a:solidFill>
                  <a:srgbClr val="0B192C"/>
                </a:solidFill>
                <a:latin typeface="Arial"/>
              </a:defRPr>
            </a:pPr>
            <a:r>
              <a:t>Problem vs. Proposed Solution &amp; Core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058400" cy="41148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>
              <a:defRPr sz="1100">
                <a:solidFill>
                  <a:srgbClr val="F1F5F9"/>
                </a:solidFill>
                <a:latin typeface="Calibri"/>
              </a:defRPr>
            </a:pPr>
            <a:r>
              <a:t>SIH26123 — SwarmEdge  |  Edge-AI Distributed AMR Fleet Coordination  |  Bharat Electronics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1F5F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7040880" cy="16002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70432"/>
            <a:ext cx="66751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B91C1C"/>
                </a:solidFill>
              </a:defRPr>
            </a:pPr>
            <a:r>
              <a:t>PROBLEM EXISTING (Centralized Fleet Management Bottlenecks)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B91C1C"/>
                </a:solidFill>
              </a:rPr>
              <a:t>▶ Single Point of Failure (SPOF): </a:t>
            </a:r>
            <a:r>
              <a:rPr sz="1000">
                <a:solidFill>
                  <a:srgbClr val="0F172A"/>
                </a:solidFill>
              </a:rPr>
              <a:t>If central server, Wi-Fi router, or dispatch kernel crashes, the entire fleet freezes.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B91C1C"/>
                </a:solidFill>
              </a:rPr>
              <a:t>▶ Wi-Fi Dead-Zone Vulnerability: </a:t>
            </a:r>
            <a:r>
              <a:rPr sz="1000">
                <a:solidFill>
                  <a:srgbClr val="0F172A"/>
                </a:solidFill>
              </a:rPr>
              <a:t>Steel racking kills RF coverage; robots lose contact, freeze mid-aisle, and stall orders.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B91C1C"/>
                </a:solidFill>
              </a:rPr>
              <a:t>▶ Server Scaling Ceiling: </a:t>
            </a:r>
            <a:r>
              <a:rPr sz="1000">
                <a:solidFill>
                  <a:srgbClr val="0F172A"/>
                </a:solidFill>
              </a:rPr>
              <a:t>Global Multi-Agent Pathfinding scales exponentially (O(V^N)), causing server saturation.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7040880" cy="16916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62072"/>
            <a:ext cx="6675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066CC"/>
                </a:solidFill>
              </a:defRPr>
            </a:pPr>
            <a:r>
              <a:t>PROPOSED SOLUTION (SwarmEdge: Decentralized Edge Coordination)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066CC"/>
                </a:solidFill>
              </a:rPr>
              <a:t>✔ Serverless P2P Mesh: </a:t>
            </a:r>
            <a:r>
              <a:rPr sz="1000">
                <a:solidFill>
                  <a:srgbClr val="0F172A"/>
                </a:solidFill>
              </a:rPr>
              <a:t>AMRs communicate directly over UDP Multicast (239.0.26.123:26123); dashboard is passive listener.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066CC"/>
                </a:solidFill>
              </a:rPr>
              <a:t>✔ 3D Space-Time A* Search: </a:t>
            </a:r>
            <a:r>
              <a:rPr sz="1000">
                <a:solidFill>
                  <a:srgbClr val="0F172A"/>
                </a:solidFill>
              </a:rPr>
              <a:t>Robots locally plan (x, y, t) trajectories with strict vertex and edge-swap non-occupancy.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066CC"/>
                </a:solidFill>
              </a:rPr>
              <a:t>✔ Dynamic Deadlock Breaker: </a:t>
            </a:r>
            <a:r>
              <a:rPr sz="1000">
                <a:solidFill>
                  <a:srgbClr val="0F172A"/>
                </a:solidFill>
              </a:rPr>
              <a:t>Wait-For-Graph detects choke-point cycles (O(V+E) DFS); yields deterministically by priority.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066CC"/>
                </a:solidFill>
              </a:rPr>
              <a:t>✔ Contract Net Auctions: </a:t>
            </a:r>
            <a:r>
              <a:rPr sz="1000">
                <a:solidFill>
                  <a:srgbClr val="0F172A"/>
                </a:solidFill>
              </a:rPr>
              <a:t>Multi-factor market bidding distributes tasks based on battery, congestion, and distance.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7040880" cy="16916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645152"/>
            <a:ext cx="6675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166534"/>
                </a:solidFill>
              </a:defRPr>
            </a:pPr>
            <a:r>
              <a:t>UVP (UNIQUE VALUE PROPOSITION)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66534"/>
                </a:solidFill>
              </a:rPr>
              <a:t>★ Zero-Collision Guarantee (ISO 3691-4): </a:t>
            </a:r>
            <a:r>
              <a:rPr sz="1000">
                <a:solidFill>
                  <a:srgbClr val="0F172A"/>
                </a:solidFill>
              </a:rPr>
              <a:t>Mathematical non-occupancy constraints + 50ms physical ultrasonic brake override.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66534"/>
                </a:solidFill>
              </a:rPr>
              <a:t>★ Verified ≥20% Makespan Speedup: </a:t>
            </a:r>
            <a:r>
              <a:rPr sz="1000">
                <a:solidFill>
                  <a:srgbClr val="0F172A"/>
                </a:solidFill>
              </a:rPr>
              <a:t>Measured 22.2% to 33.1% throughput gain over Centralized CBS across 2 to 8 AMRs.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66534"/>
                </a:solidFill>
              </a:rPr>
              <a:t>★ Graceful Node Degradation: </a:t>
            </a:r>
            <a:r>
              <a:rPr sz="1000">
                <a:solidFill>
                  <a:srgbClr val="0F172A"/>
                </a:solidFill>
              </a:rPr>
              <a:t>Dead AMR chassis become static obstacles; orphan tasks auto-re-auction in 5 ticks.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66534"/>
                </a:solidFill>
              </a:rPr>
              <a:t>★ Ultra-Low Cost Edge HW: </a:t>
            </a:r>
            <a:r>
              <a:rPr sz="1000">
                <a:solidFill>
                  <a:srgbClr val="0F172A"/>
                </a:solidFill>
              </a:rPr>
              <a:t>Runs on ₹5,000 Raspberry Pi + Arduino Uno; zero multi-lakh server or cloud licensing capex.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097280"/>
            <a:ext cx="3931920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234440"/>
            <a:ext cx="3566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200">
                <a:solidFill>
                  <a:srgbClr val="0B192C"/>
                </a:solidFill>
              </a:defRPr>
            </a:pPr>
            <a:r>
              <a:t>SYSTEM ARCHITECTURE FLOW</a:t>
            </a:r>
          </a:p>
        </p:txBody>
      </p:sp>
      <p:pic>
        <p:nvPicPr>
          <p:cNvPr id="15" name="Picture 1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600200"/>
            <a:ext cx="3657600" cy="190284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55280" y="3749039"/>
            <a:ext cx="356616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B192C"/>
                </a:solidFill>
              </a:defRPr>
            </a:pPr>
            <a:r>
              <a:t>Standards &amp; Compliance Ready: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66CC"/>
                </a:solidFill>
              </a:rPr>
              <a:t>• ISO 3691-4 Fail-Safe: </a:t>
            </a:r>
            <a:r>
              <a:rPr sz="1000">
                <a:solidFill>
                  <a:srgbClr val="475569"/>
                </a:solidFill>
              </a:rPr>
              <a:t>Local sensing halt (&lt;50ms) + 500ms watchdog.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66CC"/>
                </a:solidFill>
              </a:rPr>
              <a:t>• Pure Rust 2024: </a:t>
            </a:r>
            <a:r>
              <a:rPr sz="1000">
                <a:solidFill>
                  <a:srgbClr val="475569"/>
                </a:solidFill>
              </a:rPr>
              <a:t>Zero data races, zero GC latency spikes, memory safe.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66CC"/>
                </a:solidFill>
              </a:rPr>
              <a:t>• Atmanirbhar Bharat: </a:t>
            </a:r>
            <a:r>
              <a:rPr sz="1000">
                <a:solidFill>
                  <a:srgbClr val="475569"/>
                </a:solidFill>
              </a:rPr>
              <a:t>Indigenous coordination layer for BEL defense depots.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66CC"/>
                </a:solidFill>
              </a:rPr>
              <a:t>• Passive Listener Dashboard: </a:t>
            </a:r>
            <a:r>
              <a:rPr sz="1000">
                <a:solidFill>
                  <a:srgbClr val="475569"/>
                </a:solidFill>
              </a:rPr>
              <a:t>Zero central arbitration; 100% peer autonomy.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Calibri"/>
              </a:defRPr>
            </a:pPr>
            <a:r>
              <a:t>TECHNICAL APPROACH</a:t>
            </a:r>
          </a:p>
          <a:p>
            <a:pPr>
              <a:defRPr sz="2500" b="1">
                <a:solidFill>
                  <a:srgbClr val="0B192C"/>
                </a:solidFill>
                <a:latin typeface="Arial"/>
              </a:defRPr>
            </a:pPr>
            <a:r>
              <a:t>5-Phase Synchronous Edge State Machine &amp;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058400" cy="41148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>
              <a:defRPr sz="1100">
                <a:solidFill>
                  <a:srgbClr val="F1F5F9"/>
                </a:solidFill>
                <a:latin typeface="Calibri"/>
              </a:defRPr>
            </a:pPr>
            <a:r>
              <a:t>SIH26123 — SwarmEdge  |  Edge-AI Distributed AMR Fleet Coordination  |  Bharat Electronics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1F5F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5661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066CC"/>
                </a:solidFill>
              </a:defRPr>
            </a:pPr>
            <a:r>
              <a:t>1. DECENTRALIZED AUCTION (CNP)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Trigger: New task broadcast over UDP mesh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Cost Function: Distance + Congestion + Battery + Delay + Urgency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Bidding Window: 5-tick decentralized collection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Award: Deterministic lowest cost; Robot ID tiebreak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097280"/>
            <a:ext cx="35661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18872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28090"/>
                </a:solidFill>
              </a:defRPr>
            </a:pPr>
            <a:r>
              <a:t>2. SPACE-TIME A* COLLISION AVOIDANCE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3D Search: Plans path across (x, y, t) dimensions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Non-Occupancy: Vertex reservation table check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Swap Safety: Prevents (u,v) &lt;-&gt; (v,u) reverse crossing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In-Place Waiting: Temporal wait moves before replanning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5661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18872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EA580C"/>
                </a:solidFill>
              </a:defRPr>
            </a:pPr>
            <a:r>
              <a:t>3. DEADLOCK BREAKING (WFG DFS)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Local Graph: Wait-For-Graph of blocking dependencies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Cycle Detection: O(V + E) DFS finds circular wait loops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Right-of-Way: Lower priority number yields cleanly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Tiebreak: Lowest Robot ID backs off &amp; reroutes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46120"/>
            <a:ext cx="704088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66751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B192C"/>
                </a:solidFill>
              </a:defRPr>
            </a:pPr>
            <a:r>
              <a:t>5-PHASE SYNCHRONOUS EDGE TICK CYCLE (RobotActor Loop)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66CC"/>
                </a:solidFill>
              </a:rPr>
              <a:t>▶ Phase 1: SENSE — </a:t>
            </a:r>
            <a:r>
              <a:rPr sz="1000">
                <a:solidFill>
                  <a:srgbClr val="0F172A"/>
                </a:solidFill>
              </a:rPr>
              <a:t>Local LiDAR/ultrasonic scans 3-cell radius for dynamic obstacles &amp; peers; updates local map.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66CC"/>
                </a:solidFill>
              </a:rPr>
              <a:t>▶ Phase 2: DECIDE — </a:t>
            </a:r>
            <a:r>
              <a:rPr sz="1000">
                <a:solidFill>
                  <a:srgbClr val="0F172A"/>
                </a:solidFill>
              </a:rPr>
              <a:t>Drains inbox, dedup via seq numbers, updates peer poses, detects WFG cycles, bids/awards auctions.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66CC"/>
                </a:solidFill>
              </a:rPr>
              <a:t>▶ Phase 3: FLUSH/DELIVER — </a:t>
            </a:r>
            <a:r>
              <a:rPr sz="1000">
                <a:solidFill>
                  <a:srgbClr val="0F172A"/>
                </a:solidFill>
              </a:rPr>
              <a:t>Broadcasts queued envelopes (Pose, Intent, Bids, Conflicts) over UDP multicast mesh.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66CC"/>
                </a:solidFill>
              </a:rPr>
              <a:t>▶ Phase 4: MOVE — </a:t>
            </a:r>
            <a:r>
              <a:rPr sz="1000">
                <a:solidFill>
                  <a:srgbClr val="0F172A"/>
                </a:solidFill>
              </a:rPr>
              <a:t>Advances position along planned (x, y, t) trajectory; triggers HAL motor pulses.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66CC"/>
                </a:solidFill>
              </a:rPr>
              <a:t>▶ Phase 5: EVALUATE — </a:t>
            </a:r>
            <a:r>
              <a:rPr sz="1000">
                <a:solidFill>
                  <a:srgbClr val="0F172A"/>
                </a:solidFill>
              </a:rPr>
              <a:t>Publishes telemetry to passive dashboard watch channel; verifies invariant zero-collision pass.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246120"/>
            <a:ext cx="384048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3383280"/>
            <a:ext cx="34747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B192C"/>
                </a:solidFill>
              </a:defRPr>
            </a:pPr>
            <a:r>
              <a:t>HARDWARE &amp; SOFTWARE TECH STACK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28090"/>
                </a:solidFill>
              </a:rPr>
              <a:t>• Core Engine: </a:t>
            </a:r>
            <a:r>
              <a:rPr sz="950">
                <a:solidFill>
                  <a:srgbClr val="475569"/>
                </a:solidFill>
              </a:rPr>
              <a:t>Rust 1.85+ (2024 Edition) — Memory Safe, No GC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28090"/>
                </a:solidFill>
              </a:rPr>
              <a:t>• Concurrency: </a:t>
            </a:r>
            <a:r>
              <a:rPr sz="950">
                <a:solidFill>
                  <a:srgbClr val="475569"/>
                </a:solidFill>
              </a:rPr>
              <a:t>Tokio async runtime, Watch/Broadcast channels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28090"/>
                </a:solidFill>
              </a:rPr>
              <a:t>• Serialization: </a:t>
            </a:r>
            <a:r>
              <a:rPr sz="950">
                <a:solidFill>
                  <a:srgbClr val="475569"/>
                </a:solidFill>
              </a:rPr>
              <a:t>Serde / JSON Envelope with Monotonic SeqNum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28090"/>
                </a:solidFill>
              </a:rPr>
              <a:t>• Web Console: </a:t>
            </a:r>
            <a:r>
              <a:rPr sz="950">
                <a:solidFill>
                  <a:srgbClr val="475569"/>
                </a:solidFill>
              </a:rPr>
              <a:t>Axum WebSockets + HTML5 Canvas UI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28090"/>
                </a:solidFill>
              </a:rPr>
              <a:t>• P2P Mesh: </a:t>
            </a:r>
            <a:r>
              <a:rPr sz="950">
                <a:solidFill>
                  <a:srgbClr val="475569"/>
                </a:solidFill>
              </a:rPr>
              <a:t>UDP Multicast (239.0.26.123:26123)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28090"/>
                </a:solidFill>
              </a:rPr>
              <a:t>• Microcontroller: </a:t>
            </a:r>
            <a:r>
              <a:rPr sz="950">
                <a:solidFill>
                  <a:srgbClr val="475569"/>
                </a:solidFill>
              </a:rPr>
              <a:t>Arduino Uno (C++11, L298N PWM, HC-SR04)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28090"/>
                </a:solidFill>
              </a:rPr>
              <a:t>• Safety Watchdog: </a:t>
            </a:r>
            <a:r>
              <a:rPr sz="950">
                <a:solidFill>
                  <a:srgbClr val="475569"/>
                </a:solidFill>
              </a:rPr>
              <a:t>500ms Serial Timeout Auto-Brake (ISO 3691-4)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Calibri"/>
              </a:defRPr>
            </a:pPr>
            <a:r>
              <a:t>FEASIBILITY &amp; VIABILITY</a:t>
            </a:r>
          </a:p>
          <a:p>
            <a:pPr>
              <a:defRPr sz="2500" b="1">
                <a:solidFill>
                  <a:srgbClr val="0B192C"/>
                </a:solidFill>
                <a:latin typeface="Arial"/>
              </a:defRPr>
            </a:pPr>
            <a:r>
              <a:t>Feasibility, Viability &amp; Risk Mitigations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058400" cy="41148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>
              <a:defRPr sz="1100">
                <a:solidFill>
                  <a:srgbClr val="F1F5F9"/>
                </a:solidFill>
                <a:latin typeface="Calibri"/>
              </a:defRPr>
            </a:pPr>
            <a:r>
              <a:t>SIH26123 — SwarmEdge  |  Edge-AI Distributed AMR Fleet Coordination  |  Bharat Electronics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1F5F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39496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502920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066CC"/>
                </a:solidFill>
              </a:defRPr>
            </a:pPr>
            <a:r>
              <a:t>FEASIBILITY (Technical, Operational &amp; Economic)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B192C"/>
                </a:solidFill>
              </a:rPr>
              <a:t>✔ Technical Maturity: </a:t>
            </a:r>
            <a:r>
              <a:rPr sz="1000">
                <a:solidFill>
                  <a:srgbClr val="475569"/>
                </a:solidFill>
              </a:rPr>
              <a:t>Implemented in pure Rust 2024; 49 integration tests across 11 suites pass with 100% reliability.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B192C"/>
                </a:solidFill>
              </a:rPr>
              <a:t>✔ Operational Independence: </a:t>
            </a:r>
            <a:r>
              <a:rPr sz="1000">
                <a:solidFill>
                  <a:srgbClr val="475569"/>
                </a:solidFill>
              </a:rPr>
              <a:t>Operates in total radio shadow; peer drop triggers 5-tick dead-chassis conversion and task re-auction.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B192C"/>
                </a:solidFill>
              </a:rPr>
              <a:t>✔ Safety Compliance: </a:t>
            </a:r>
            <a:r>
              <a:rPr sz="1000">
                <a:solidFill>
                  <a:srgbClr val="475569"/>
                </a:solidFill>
              </a:rPr>
              <a:t>ISO 3691-4 industrial safety standard; &lt;50ms ultrasonic emergency brake; 500ms hardware watchdog.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B192C"/>
                </a:solidFill>
              </a:rPr>
              <a:t>✔ Economic Feasibility: </a:t>
            </a:r>
            <a:r>
              <a:rPr sz="1000">
                <a:solidFill>
                  <a:srgbClr val="475569"/>
                </a:solidFill>
              </a:rPr>
              <a:t>Runs on ₹5,000 Raspberry Pi 4B/5 + Arduino Uno; eliminates multi-lakh central server capex.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39496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02920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166534"/>
                </a:solidFill>
              </a:defRPr>
            </a:pPr>
            <a:r>
              <a:t>VIABILITY (Market, Defense Sovereignty &amp; ROI)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B192C"/>
                </a:solidFill>
              </a:rPr>
              <a:t>★ Market Opportunity: </a:t>
            </a:r>
            <a:r>
              <a:rPr sz="1000">
                <a:solidFill>
                  <a:srgbClr val="475569"/>
                </a:solidFill>
              </a:rPr>
              <a:t>India AMR market growing $92.6M (2026) -&gt; $245M (2031) at 17.6% CAGR; India warehousing reaches $181B by 2035.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B192C"/>
                </a:solidFill>
              </a:rPr>
              <a:t>★ Strategic (BEL / Defense): </a:t>
            </a:r>
            <a:r>
              <a:rPr sz="1000">
                <a:solidFill>
                  <a:srgbClr val="475569"/>
                </a:solidFill>
              </a:rPr>
              <a:t>Indigenous Atmanirbhar coordination engine; breaks dependence on foreign FMS (OTTO/MiR/Geek+).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B192C"/>
                </a:solidFill>
              </a:rPr>
              <a:t>★ Measurable ROI: </a:t>
            </a:r>
            <a:r>
              <a:rPr sz="1000">
                <a:solidFill>
                  <a:srgbClr val="475569"/>
                </a:solidFill>
              </a:rPr>
              <a:t>≥20% throughput boost on existing robot fleets with zero additional hardware spend.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B192C"/>
                </a:solidFill>
              </a:rPr>
              <a:t>★ Scalability Model: </a:t>
            </a:r>
            <a:r>
              <a:rPr sz="1000">
                <a:solidFill>
                  <a:srgbClr val="475569"/>
                </a:solidFill>
              </a:rPr>
              <a:t>Communication scales with local neighbors O(local), avoiding the O(N^2) server saturation ceiling.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53949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50292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B192C"/>
                </a:solidFill>
              </a:defRPr>
            </a:pPr>
            <a:r>
              <a:t>TECHNICAL CHALLENGES &amp; MITIGATIONS</a:t>
            </a:r>
          </a:p>
          <a:p>
            <a:pPr>
              <a:spcAft>
                <a:spcPts val="200"/>
              </a:spcAft>
              <a:defRPr b="1" sz="1000">
                <a:solidFill>
                  <a:srgbClr val="B91C1C"/>
                </a:solidFill>
              </a:defRPr>
            </a:pPr>
            <a:r>
              <a:t>• Risk: UDP Packet Loss in Steel Warehouse Shadows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Mitigation: Monotonic sequence tracking rejects duplicates; periodic 1-tick soft-state heartbeats ensure self-healing telemetry; local ultrasonic HAL triggers emergency stop (&lt;50ms) regardless of network status.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3949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206240"/>
            <a:ext cx="50292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B192C"/>
                </a:solidFill>
              </a:defRPr>
            </a:pPr>
            <a:r>
              <a:t>OPERATIONAL &amp; SAFETY CHALLENGES &amp; MITIGATIONS</a:t>
            </a:r>
          </a:p>
          <a:p>
            <a:pPr>
              <a:spcAft>
                <a:spcPts val="200"/>
              </a:spcAft>
              <a:defRPr b="1" sz="1000">
                <a:solidFill>
                  <a:srgbClr val="EA580C"/>
                </a:solidFill>
              </a:defRPr>
            </a:pPr>
            <a:r>
              <a:t>• Risk: Circular Deadlock at High-Traffic 4-Way Intersections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Mitigation: Onboard Wait-For-Graph DFS detects circular wait cycles in O(V+E) time; deterministic priority rules and Robot ID tiebreakers force lower priority robot to yield and reroute without central intervention.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Calibri"/>
              </a:defRPr>
            </a:pPr>
            <a:r>
              <a:t>IMPACTS &amp; BENEFITS</a:t>
            </a:r>
          </a:p>
          <a:p>
            <a:pPr>
              <a:defRPr sz="2500" b="1">
                <a:solidFill>
                  <a:srgbClr val="0B192C"/>
                </a:solidFill>
                <a:latin typeface="Arial"/>
              </a:defRPr>
            </a:pPr>
            <a:r>
              <a:t>Impacts, Benchmarks &amp; 3 Operational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058400" cy="41148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>
              <a:defRPr sz="1100">
                <a:solidFill>
                  <a:srgbClr val="F1F5F9"/>
                </a:solidFill>
                <a:latin typeface="Calibri"/>
              </a:defRPr>
            </a:pPr>
            <a:r>
              <a:t>SIH26123 — SwarmEdge  |  Edge-AI Distributed AMR Fleet Coordination  |  Bharat Electronics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1F5F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62179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585216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B192C"/>
                </a:solidFill>
              </a:defRPr>
            </a:pPr>
            <a:r>
              <a:t>CORE IMPACT PILLARS (Quantified &amp; Verified)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066CC"/>
                </a:solidFill>
              </a:rPr>
              <a:t>• Operational Resilience: </a:t>
            </a:r>
            <a:r>
              <a:rPr sz="950">
                <a:solidFill>
                  <a:srgbClr val="475569"/>
                </a:solidFill>
              </a:rPr>
              <a:t>100% Graceful Degradation. Killing any AMR leaves the surviving fleet operational; tasks re-auctioned within 5 ticks with zero central server intervention.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066CC"/>
                </a:solidFill>
              </a:rPr>
              <a:t>• Productivity &amp; Throughput: </a:t>
            </a:r>
            <a:r>
              <a:rPr sz="950">
                <a:solidFill>
                  <a:srgbClr val="475569"/>
                </a:solidFill>
              </a:rPr>
              <a:t>Measured 22.2% to 33.1% makespan speedup over Centralized CBS dispatcher across 2 to 8 AMRs; zero bottleneck idle freezes.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066CC"/>
                </a:solidFill>
              </a:rPr>
              <a:t>• Defense &amp; Strategic Sovereignty: </a:t>
            </a:r>
            <a:r>
              <a:rPr sz="950">
                <a:solidFill>
                  <a:srgbClr val="475569"/>
                </a:solidFill>
              </a:rPr>
              <a:t>Air-gapped edge operation with zero cloud exposure, ideal for high-security defense depots (BEL), ordnance factories, and naval dockyards.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49440" y="1097280"/>
          <a:ext cx="46634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Centralized FMS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SwarmEdge (Ours)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92C"/>
                          </a:solidFill>
                          <a:latin typeface="Calibri"/>
                        </a:defRPr>
                      </a:pPr>
                      <a:r>
                        <a:t>Coordination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Central Server (SPOF)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Decentralized P2P Mesh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92C"/>
                          </a:solidFill>
                          <a:latin typeface="Calibri"/>
                        </a:defRPr>
                      </a:pPr>
                      <a:r>
                        <a:t>Wi-Fi Drop Behavior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Entire Fleet Halts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Continues Local Operation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92C"/>
                          </a:solidFill>
                          <a:latin typeface="Calibri"/>
                        </a:defRPr>
                      </a:pPr>
                      <a:r>
                        <a:t>Deadlock Breaking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Manual / Central Freeze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Autonomous WFG DFS Cycle Breaker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92C"/>
                          </a:solidFill>
                          <a:latin typeface="Calibri"/>
                        </a:defRPr>
                      </a:pPr>
                      <a:r>
                        <a:t>Hardware Cost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High-End Server + Licenses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₹5,000 Edge Board (RPi+Arduino)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92C"/>
                          </a:solidFill>
                          <a:latin typeface="Calibri"/>
                        </a:defRPr>
                      </a:pPr>
                      <a:r>
                        <a:t>Safety Invariant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Probabilistic / Network-reliant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100% Zero Collisions (ISO 3691-4)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3611880"/>
            <a:ext cx="35661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703320"/>
            <a:ext cx="32918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066CC"/>
                </a:solidFill>
              </a:defRPr>
            </a:pPr>
            <a:r>
              <a:t>SCENARIO 1: CHOKE-POINT NEGOTIATION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Condition: </a:t>
            </a:r>
            <a:r>
              <a:rPr sz="900">
                <a:solidFill>
                  <a:srgbClr val="475569"/>
                </a:solidFill>
              </a:rPr>
              <a:t>2 AMRs converge head-on in 1-lane narrow corridor.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Mechanism: </a:t>
            </a:r>
            <a:r>
              <a:rPr sz="900">
                <a:solidFill>
                  <a:srgbClr val="475569"/>
                </a:solidFill>
              </a:rPr>
              <a:t>Space-Time A* checks peer intent; lower priority robot executes temporal wait in alcove; higher priority robot clears corridor.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Time / Result: </a:t>
            </a:r>
            <a:r>
              <a:rPr sz="900">
                <a:solidFill>
                  <a:srgbClr val="475569"/>
                </a:solidFill>
              </a:rPr>
              <a:t>32 ticks  |  0 Collisions  |  0 Deadlocks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Best For: </a:t>
            </a:r>
            <a:r>
              <a:rPr sz="900">
                <a:solidFill>
                  <a:srgbClr val="475569"/>
                </a:solidFill>
              </a:rPr>
              <a:t>Narrow storage aisles, conveyor junctions, one-way ramps.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611880"/>
            <a:ext cx="35661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703320"/>
            <a:ext cx="32918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EA580C"/>
                </a:solidFill>
              </a:defRPr>
            </a:pPr>
            <a:r>
              <a:t>SCENARIO 2: DYNAMIC OBSTACLE RE-ROUTE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Condition: </a:t>
            </a:r>
            <a:r>
              <a:rPr sz="900">
                <a:solidFill>
                  <a:srgbClr val="475569"/>
                </a:solidFill>
              </a:rPr>
              <a:t>Fallen pallet or human worker blocks primary route.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Mechanism: </a:t>
            </a:r>
            <a:r>
              <a:rPr sz="900">
                <a:solidFill>
                  <a:srgbClr val="475569"/>
                </a:solidFill>
              </a:rPr>
              <a:t>Local 3-cell sense interface detects obstacle; robot marks cell as dynamic obstacle and triggers instant onboard replanning.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Time / Result: </a:t>
            </a:r>
            <a:r>
              <a:rPr sz="900">
                <a:solidFill>
                  <a:srgbClr val="475569"/>
                </a:solidFill>
              </a:rPr>
              <a:t>Instantaneous replan (&lt;10ms)  |  0 Collision halts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Best For: </a:t>
            </a:r>
            <a:r>
              <a:rPr sz="900">
                <a:solidFill>
                  <a:srgbClr val="475569"/>
                </a:solidFill>
              </a:rPr>
              <a:t>Dynamic fulfillment floors, mixed human-robot zones.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611880"/>
            <a:ext cx="35661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3703320"/>
            <a:ext cx="32918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166534"/>
                </a:solidFill>
              </a:defRPr>
            </a:pPr>
            <a:r>
              <a:t>SCENARIO 3: GRACEFUL NODE KILL RECOVERY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Condition: </a:t>
            </a:r>
            <a:r>
              <a:rPr sz="900">
                <a:solidFill>
                  <a:srgbClr val="475569"/>
                </a:solidFill>
              </a:rPr>
              <a:t>AMR suffers hardware fault or battery death mid-mission.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Mechanism: </a:t>
            </a:r>
            <a:r>
              <a:rPr sz="900">
                <a:solidFill>
                  <a:srgbClr val="475569"/>
                </a:solidFill>
              </a:rPr>
              <a:t>Surviving peers miss heartbeats (&gt;5 ticks); dead robot pose converted to static obstacle; orphan task auto-broadcasted to auction pool.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Time / Result: </a:t>
            </a:r>
            <a:r>
              <a:rPr sz="900">
                <a:solidFill>
                  <a:srgbClr val="475569"/>
                </a:solidFill>
              </a:rPr>
              <a:t>Re-awarded in 5 ticks  |  Fleet continues seamlessly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Best For: </a:t>
            </a:r>
            <a:r>
              <a:rPr sz="900">
                <a:solidFill>
                  <a:srgbClr val="475569"/>
                </a:solidFill>
              </a:rPr>
              <a:t>Uninterrupted 24/7 mission-critical defense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Calibri"/>
              </a:defRPr>
            </a:pPr>
            <a:r>
              <a:t>RESEARCH &amp; RESOURCES</a:t>
            </a:r>
          </a:p>
          <a:p>
            <a:pPr>
              <a:defRPr sz="2500" b="1">
                <a:solidFill>
                  <a:srgbClr val="0B192C"/>
                </a:solidFill>
                <a:latin typeface="Arial"/>
              </a:defRPr>
            </a:pPr>
            <a:r>
              <a:t>Research References, Differentiation &amp;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058400" cy="41148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>
              <a:defRPr sz="1100">
                <a:solidFill>
                  <a:srgbClr val="F1F5F9"/>
                </a:solidFill>
                <a:latin typeface="Calibri"/>
              </a:defRPr>
            </a:pPr>
            <a:r>
              <a:t>SIH26123 — SwarmEdge  |  Edge-AI Distributed AMR Fleet Coordination  |  Bharat Electronics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1F5F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11094415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70432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B192C"/>
                </a:solidFill>
              </a:defRPr>
            </a:pPr>
            <a:r>
              <a:t>ACADEMIC FOUNDATIONS &amp; SAFETY STANDARDS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066CC"/>
                </a:solidFill>
              </a:rPr>
              <a:t>• Cooperative Pathfinding: </a:t>
            </a:r>
            <a:r>
              <a:rPr sz="1000">
                <a:solidFill>
                  <a:srgbClr val="475569"/>
                </a:solidFill>
              </a:rPr>
              <a:t>Silver (AIIDE 2005) — Space-Time Reservation Tables and Windowed Hierarchical Planning.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066CC"/>
                </a:solidFill>
              </a:rPr>
              <a:t>• Optimal MAPF Baseline: </a:t>
            </a:r>
            <a:r>
              <a:rPr sz="1000">
                <a:solidFill>
                  <a:srgbClr val="475569"/>
                </a:solidFill>
              </a:rPr>
              <a:t>Sharon, Stern, Felner, Sturtevant (AAAI 2012 / AIJ 2015) — Conflict-Based Search (CBS) for Multi-Agent Pathfinding.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066CC"/>
                </a:solidFill>
              </a:rPr>
              <a:t>• Market Task Allocation: </a:t>
            </a:r>
            <a:r>
              <a:rPr sz="1000">
                <a:solidFill>
                  <a:srgbClr val="475569"/>
                </a:solidFill>
              </a:rPr>
              <a:t>Smith (IEEE TC 1980) — Contract Net Protocol &amp; Gerkey/Matarić (IEEE T-RA 2002) MURDOCH Multi-Robot Auctions.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066CC"/>
                </a:solidFill>
              </a:rPr>
              <a:t>• Safety &amp; Interoperability Standards: </a:t>
            </a:r>
            <a:r>
              <a:rPr sz="1000">
                <a:solidFill>
                  <a:srgbClr val="475569"/>
                </a:solidFill>
              </a:rPr>
              <a:t>ISO 3691-4:2023 (Safety of Driverless Industrial Trucks) and VDA 5050 (AGV/AMR Interface Standard).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53949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B91C1C"/>
                </a:solidFill>
              </a:defRPr>
            </a:pPr>
            <a:r>
              <a:t>SOLUTIONS ALREADY EXIST (Centralized &amp; Proprietary)</a:t>
            </a:r>
          </a:p>
          <a:p>
            <a:pPr>
              <a:spcAft>
                <a:spcPts val="200"/>
              </a:spcAft>
              <a:defRPr sz="950">
                <a:solidFill>
                  <a:srgbClr val="475569"/>
                </a:solidFill>
              </a:defRPr>
            </a:pPr>
            <a:r>
              <a:t>• Commercial FMS (OTTO Motors, MiR Fleet, Geek+, Locus): Centralized dispatch; single point of failure; vendor lock-in.</a:t>
            </a:r>
          </a:p>
          <a:p>
            <a:pPr>
              <a:spcAft>
                <a:spcPts val="200"/>
              </a:spcAft>
              <a:defRPr sz="950">
                <a:solidFill>
                  <a:srgbClr val="475569"/>
                </a:solidFill>
              </a:defRPr>
            </a:pPr>
            <a:r>
              <a:t>• Open Source / Standards (openTCS, Open-RMF, VDA 5050): Centralized routing kernel; fails when Wi-Fi disconnects.</a:t>
            </a:r>
          </a:p>
          <a:p>
            <a:pPr>
              <a:spcAft>
                <a:spcPts val="200"/>
              </a:spcAft>
              <a:defRPr sz="950">
                <a:solidFill>
                  <a:srgbClr val="475569"/>
                </a:solidFill>
              </a:defRPr>
            </a:pPr>
            <a:r>
              <a:t>• Academic Decentralized Papers: Idealized zero-latency simulation only; no physical hardware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834640"/>
            <a:ext cx="53949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166534"/>
                </a:solidFill>
              </a:defRPr>
            </a:pPr>
            <a:r>
              <a:t>OUR SOLUTION STANDS OUT (SwarmEdge)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True P2P Serverless Mesh: Zero central infrastructure; operates reliably in RF dead zones.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Metric-Proven Advantage: +22.2% to +33.1% makespan speedup over CBS baseline with 0 collisions.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Self-Healing Fault Tolerance: Automated deadlock cycle breaking and lost-peer task re-auctions.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Production Edge &amp; HIL: Runs in pure Rust 2024 on ₹5,000 Raspberry Pi + Arduino Uno hardware.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17720"/>
            <a:ext cx="11094415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0916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B192C"/>
                </a:solidFill>
              </a:defRPr>
            </a:pPr>
            <a:r>
              <a:t>VERIFIABLE PROJECT ARTIFACTS &amp; DELIVERABLES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66CC"/>
                </a:solidFill>
              </a:rPr>
              <a:t>✔ Interactive Web Operations Console: </a:t>
            </a:r>
            <a:r>
              <a:rPr sz="950">
                <a:solidFill>
                  <a:srgbClr val="475569"/>
                </a:solidFill>
              </a:rPr>
              <a:t>Real-time telemetry on port 3000 (Axum + WebSockets + HTML5 Canvas) with dynamic wall injection, custom task dispatch, and AMR kill/restore tools.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66CC"/>
                </a:solidFill>
              </a:rPr>
              <a:t>✔ Automated Test Suite (100% Pass): </a:t>
            </a:r>
            <a:r>
              <a:rPr sz="950">
                <a:solidFill>
                  <a:srgbClr val="475569"/>
                </a:solidFill>
              </a:rPr>
              <a:t>49 passing integration tests across 11 test suites covering auctions, deadlocks, packet loss, sequence dedup, and CBS comparisons (`make test`).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66CC"/>
                </a:solidFill>
              </a:rPr>
              <a:t>✔ Comparative Benchmark Suite: </a:t>
            </a:r>
            <a:r>
              <a:rPr sz="950">
                <a:solidFill>
                  <a:srgbClr val="475569"/>
                </a:solidFill>
              </a:rPr>
              <a:t>Single-command reproducible benchmark pipeline (`make bench`) evaluating distributed engine vs Centralized CBS across 2, 4, 6, and 8 AMRs.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66CC"/>
                </a:solidFill>
              </a:rPr>
              <a:t>✔ Hardware-in-the-Loop Integration Plan: </a:t>
            </a:r>
            <a:r>
              <a:rPr sz="950">
                <a:solidFill>
                  <a:srgbClr val="475569"/>
                </a:solidFill>
              </a:rPr>
              <a:t>Complete Raspberry Pi + Arduino Uno wiring schematics, serial protocol, and C++ firmware in docs/HARDWARE_INTEGRATION_PLAN.md.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