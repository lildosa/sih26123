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000" b="1">
                <a:solidFill>
                  <a:srgbClr val="0066CC"/>
                </a:solidFill>
                <a:latin typeface="Arial"/>
              </a:defRPr>
            </a:pPr>
            <a:r>
              <a:t>EdgeBot: Decentralized AMR Fleet Coordination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Problem Statement ID : </a:t>
            </a:r>
            <a:r>
              <a:rPr b="1" sz="1300">
                <a:solidFill>
                  <a:srgbClr val="0066CC"/>
                </a:solidFill>
                <a:latin typeface="Calibri"/>
              </a:rPr>
              <a:t>SIH26123</a:t>
            </a:r>
            <a:endParaRPr lang="en-US" dirty="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Organization : </a:t>
            </a:r>
            <a:r>
              <a:rPr b="1" sz="1300">
                <a:solidFill>
                  <a:srgbClr val="0B192C"/>
                </a:solidFill>
                <a:latin typeface="Calibri"/>
              </a:rPr>
              <a:t>Bharat Electronics Limited (BEL)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Problem Title : </a:t>
            </a:r>
            <a:r>
              <a:rPr b="1" sz="1300">
                <a:solidFill>
                  <a:srgbClr val="0F172A"/>
                </a:solidFill>
                <a:latin typeface="Calibri"/>
              </a:rPr>
              <a:t>Edge-AI Based Distributed Fleet Coordination for Autonomous Mobile Robots (AMRs) in Smart Warehouses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Theme : </a:t>
            </a:r>
            <a:r>
              <a:rPr b="1" sz="1300">
                <a:solidFill>
                  <a:srgbClr val="0B192C"/>
                </a:solidFill>
                <a:latin typeface="Calibri"/>
              </a:rPr>
              <a:t>Robotics and Drones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PS Category : </a:t>
            </a:r>
            <a:r>
              <a:rPr b="1" sz="1300">
                <a:solidFill>
                  <a:srgbClr val="0B192C"/>
                </a:solidFill>
                <a:latin typeface="Calibri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Key Metric : </a:t>
            </a:r>
            <a:r>
              <a:rPr b="1" sz="1300">
                <a:solidFill>
                  <a:srgbClr val="166534"/>
                </a:solidFill>
                <a:latin typeface="Calibri"/>
              </a:rPr>
              <a:t>Zero Collisions (ISO 3691-4) &amp; ≥20% Makespan Speedup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Team Name : </a:t>
            </a:r>
            <a:r>
              <a:rPr b="1" sz="1300">
                <a:solidFill>
                  <a:srgbClr val="EA580C"/>
                </a:solidFill>
                <a:latin typeface="Calibri"/>
              </a:rPr>
              <a:t>Cold Start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B192C"/>
                </a:solidFill>
                <a:latin typeface="Calibri"/>
              </a:rPr>
              <a:t>• Project Name : </a:t>
            </a:r>
            <a:r>
              <a:rPr b="1" sz="1300">
                <a:solidFill>
                  <a:srgbClr val="0B192C"/>
                </a:solidFill>
                <a:latin typeface="Calibri"/>
              </a:rPr>
              <a:t>EdgeBot (Pure Rust 2024 + Arduino Uno HAL)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>
              <a:defRPr sz="2400" b="1">
                <a:solidFill>
                  <a:srgbClr val="0B192C"/>
                </a:solidFill>
              </a:defRPr>
            </a:pPr>
            <a:r>
              <a:t>EdgeBot: Decentralized AMR Fleet Coordination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@Cold Start - EdgeBot  |  SIH26123 (BEL)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Cold Start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188720"/>
            <a:ext cx="7040880" cy="1600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31520" y="1261872"/>
            <a:ext cx="6675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B91C1C"/>
                </a:solidFill>
              </a:defRPr>
            </a:pPr>
            <a:r>
              <a:t>PROBLEM EXISTING (Centralized Fleet Management Bottlenecks)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Single Point of Failure (SPOF): </a:t>
            </a:r>
            <a:r>
              <a:rPr sz="1000">
                <a:solidFill>
                  <a:srgbClr val="0F172A"/>
                </a:solidFill>
              </a:rPr>
              <a:t>If central server, Wi-Fi router, or dispatch kernel crashes, the entire fleet freezes.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Wi-Fi Dead-Zone Vulnerability: </a:t>
            </a:r>
            <a:r>
              <a:rPr sz="1000">
                <a:solidFill>
                  <a:srgbClr val="0F172A"/>
                </a:solidFill>
              </a:rPr>
              <a:t>Steel warehouse racking blocks RF coverage; robots lose contact, freeze mid-aisle, and stall orders.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B91C1C"/>
                </a:solidFill>
              </a:rPr>
              <a:t>▶ Server Scaling Ceiling: </a:t>
            </a:r>
            <a:r>
              <a:rPr sz="1000">
                <a:solidFill>
                  <a:srgbClr val="0F172A"/>
                </a:solidFill>
              </a:rPr>
              <a:t>Global Multi-Agent Pathfinding scales exponentially (O(V^N)), causing server saturation.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48640" y="2880360"/>
            <a:ext cx="7040880" cy="1691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31520" y="2953512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066CC"/>
                </a:solidFill>
              </a:defRPr>
            </a:pPr>
            <a:r>
              <a:t>PROPOSED SOLUTION (EdgeBot: Decentralized Edge Coordination)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Serverless P2P Mesh: </a:t>
            </a:r>
            <a:r>
              <a:rPr sz="1000">
                <a:solidFill>
                  <a:srgbClr val="0F172A"/>
                </a:solidFill>
              </a:rPr>
              <a:t>AMRs communicate directly over UDP Multicast (239.0.26.123:26123); dashboard is passive listener.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3D Space-Time A* Search: </a:t>
            </a:r>
            <a:r>
              <a:rPr sz="1000">
                <a:solidFill>
                  <a:srgbClr val="0F172A"/>
                </a:solidFill>
              </a:rPr>
              <a:t>Robots locally plan (x, y, t) trajectories with strict vertex and edge-swap non-occupancy.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Dynamic Deadlock Breaker: </a:t>
            </a:r>
            <a:r>
              <a:rPr sz="1000">
                <a:solidFill>
                  <a:srgbClr val="0F172A"/>
                </a:solidFill>
              </a:rPr>
              <a:t>Wait-For-Graph detects choke-point cycles (O(V+E) DFS); yields deterministically by priority.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✔ Contract Net Auctions: </a:t>
            </a:r>
            <a:r>
              <a:rPr sz="1000">
                <a:solidFill>
                  <a:srgbClr val="0F172A"/>
                </a:solidFill>
              </a:rPr>
              <a:t>Multi-factor market bidding distributes tasks based on battery, congestion, and distance.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48640" y="4663440"/>
            <a:ext cx="7040880" cy="1645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731520" y="4736592"/>
            <a:ext cx="667512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UVP (UNIQUE VALUE PROPOSITION)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Zero-Collision Guarantee (ISO 3691-4): </a:t>
            </a:r>
            <a:r>
              <a:rPr sz="1000">
                <a:solidFill>
                  <a:srgbClr val="0F172A"/>
                </a:solidFill>
              </a:rPr>
              <a:t>Mathematical non-occupancy constraints + 50ms physical ultrasonic brake override.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Verified ≥20% Makespan Speedup: </a:t>
            </a:r>
            <a:r>
              <a:rPr sz="1000">
                <a:solidFill>
                  <a:srgbClr val="0F172A"/>
                </a:solidFill>
              </a:rPr>
              <a:t>Measured 22.2% to 33.1% throughput gain over Centralized CBS across 2 to 8 AMRs.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Graceful Node Degradation: </a:t>
            </a:r>
            <a:r>
              <a:rPr sz="1000">
                <a:solidFill>
                  <a:srgbClr val="0F172A"/>
                </a:solidFill>
              </a:rPr>
              <a:t>Dead AMR chassis become static obstacles; orphan tasks auto-re-auction in 5 ticks.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66534"/>
                </a:solidFill>
              </a:rPr>
              <a:t>★ Ultra-Low Cost Edge HW: </a:t>
            </a:r>
            <a:r>
              <a:rPr sz="1000">
                <a:solidFill>
                  <a:srgbClr val="0F172A"/>
                </a:solidFill>
              </a:rPr>
              <a:t>Runs on ₹5,000 Raspberry Pi + Arduino Uno; zero multi-lakh server or cloud licensing capex.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7772400" y="1188720"/>
            <a:ext cx="39319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7955280" y="1325880"/>
            <a:ext cx="3566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EDGEBOT DISTRIBUTED ARCHITECTURE</a:t>
            </a:r>
          </a:p>
        </p:txBody>
      </p:sp>
      <p:pic>
        <p:nvPicPr>
          <p:cNvPr id="15371" name="Picture 1537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691640"/>
            <a:ext cx="3657600" cy="1902846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7955280" y="384048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Standards &amp; Compliance Ready: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ISO 3691-4 Fail-Safe: </a:t>
            </a:r>
            <a:r>
              <a:rPr sz="1000">
                <a:solidFill>
                  <a:srgbClr val="475569"/>
                </a:solidFill>
              </a:rPr>
              <a:t>Local sensing halt (&lt;50ms) + 500ms watchdog.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Pure Rust 2024: </a:t>
            </a:r>
            <a:r>
              <a:rPr sz="1000">
                <a:solidFill>
                  <a:srgbClr val="475569"/>
                </a:solidFill>
              </a:rPr>
              <a:t>Zero data races, zero GC latency spikes, memory safe.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Atmanirbhar Bharat: </a:t>
            </a:r>
            <a:r>
              <a:rPr sz="1000">
                <a:solidFill>
                  <a:srgbClr val="475569"/>
                </a:solidFill>
              </a:rPr>
              <a:t>Indigenous coordination layer for BEL defense depots.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• Passive Listener Dashboard: </a:t>
            </a:r>
            <a:r>
              <a:rPr sz="1000">
                <a:solidFill>
                  <a:srgbClr val="475569"/>
                </a:solidFill>
              </a:rPr>
              <a:t>Zero central arbitration; 100% peer autonomy.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B192C"/>
                </a:solidFill>
              </a:defRPr>
            </a:pPr>
            <a:r>
              <a:t>TECHNICAL APPROACH &amp; DECISION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@Cold Start - EdgeBot  |  SIH26123 (BEL)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Cold Start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280160"/>
            <a:ext cx="3291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66CC"/>
                </a:solidFill>
              </a:defRPr>
            </a:pPr>
            <a:r>
              <a:t>1. DECENTRALIZED AUCTION (CNP)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Trigger: New task broadcast over UDP multicast mesh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Cost Formulation: min J = w1·dist + w2·congestion + w3·(1-SoC) + w4·urgency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Bidding Window: 5-tick decentralized collection &amp; evaluation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Award Logic: Deterministic lowest cost; Robot ID tiebreak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Fault Recovery: Auto-re-auction if winning bidder fails heartbeat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97680" y="1188720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434840" y="1280160"/>
            <a:ext cx="3291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28090"/>
                </a:solidFill>
              </a:defRPr>
            </a:pPr>
            <a:r>
              <a:t>2. SPACE-TIME A* COLLISION AVOIDANCE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State Space: 3D search over (x, y, t) with dynamic horizon T=64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Vertex Invariant: R[(x, y, t)] == Empty (strict zero co-location)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Edge Invariant: (u, v, t) ∧ (v, u, t+1) swap conflict rejected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Heuristic: Admissible Manhattan distance h(u) = ||u - goal||1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Temporal Waiting: In-place wait moves before dynamic D* Lite reroute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046720" y="1188720"/>
            <a:ext cx="35661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83879" y="1280160"/>
            <a:ext cx="3291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EA580C"/>
                </a:solidFill>
              </a:defRPr>
            </a:pPr>
            <a:r>
              <a:t>3. DEADLOCK BREAKING (WFG DFS)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Dependency Graph: Directed Wait-For-Graph G = (V, E) of peer intents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Cycle Detection: Tarjan / DFS cycle detection runs in O(V + E) time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Priority Arbitration: Lexicographical order &lt;urgency, tick, robot_id&gt;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Deterministic Yield: Lowest priority AMR yields to temporal alcove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Livelock Prevention: Random jitter back-off resolves symmetric ties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246120"/>
            <a:ext cx="70408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383280"/>
            <a:ext cx="66751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5-PHASE SYNCHRONOUS EDGE TICK CYCLE (RobotActor Loop)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1: SENSE — </a:t>
            </a:r>
            <a:r>
              <a:rPr sz="950">
                <a:solidFill>
                  <a:srgbClr val="0F172A"/>
                </a:solidFill>
              </a:rPr>
              <a:t>Local LiDAR/ultrasonic scans 3-cell radius for dynamic obstacles &amp; peers; updates local occupancy grid.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2: DECIDE — </a:t>
            </a:r>
            <a:r>
              <a:rPr sz="950">
                <a:solidFill>
                  <a:srgbClr val="0F172A"/>
                </a:solidFill>
              </a:rPr>
              <a:t>Drains UDP inbox, dedup via monotonic seq numbers, updates peer poses, detects WFG cycles, bids/awards auctions.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3: FLUSH/DELIVER — </a:t>
            </a:r>
            <a:r>
              <a:rPr sz="950">
                <a:solidFill>
                  <a:srgbClr val="0F172A"/>
                </a:solidFill>
              </a:rPr>
              <a:t>Broadcasts queued envelopes (Pose, Intent, Bids, Conflicts) over UDP multicast mesh.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4: MOVE — </a:t>
            </a:r>
            <a:r>
              <a:rPr sz="950">
                <a:solidFill>
                  <a:srgbClr val="0F172A"/>
                </a:solidFill>
              </a:rPr>
              <a:t>Advances position along planned (x, y, t) trajectory; triggers HAL motor pulses via Arduino serial bridge.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66CC"/>
                </a:solidFill>
              </a:rPr>
              <a:t>▶ Phase 5: EVALUATE — </a:t>
            </a:r>
            <a:r>
              <a:rPr sz="950">
                <a:solidFill>
                  <a:srgbClr val="0F172A"/>
                </a:solidFill>
              </a:rPr>
              <a:t>Publishes telemetry to passive dashboard watch channel; asserts invariant zero-collision guarantee.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772400" y="3246120"/>
            <a:ext cx="384048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955279" y="338328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HARDWARE &amp; SOFTWARE TECH STACK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Core Engine: </a:t>
            </a:r>
            <a:r>
              <a:rPr sz="950">
                <a:solidFill>
                  <a:srgbClr val="475569"/>
                </a:solidFill>
              </a:rPr>
              <a:t>Rust 1.85+ (2024 Edition) — Memory Safe, No GC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Concurrency: </a:t>
            </a:r>
            <a:r>
              <a:rPr sz="950">
                <a:solidFill>
                  <a:srgbClr val="475569"/>
                </a:solidFill>
              </a:rPr>
              <a:t>Tokio async runtime, Watch/Broadcast channels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Serialization: </a:t>
            </a:r>
            <a:r>
              <a:rPr sz="950">
                <a:solidFill>
                  <a:srgbClr val="475569"/>
                </a:solidFill>
              </a:rPr>
              <a:t>Serde / JSON Envelope with Monotonic SeqNum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Web Console: </a:t>
            </a:r>
            <a:r>
              <a:rPr sz="950">
                <a:solidFill>
                  <a:srgbClr val="475569"/>
                </a:solidFill>
              </a:rPr>
              <a:t>Axum WebSockets + HTML5 Canvas UI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P2P Mesh: </a:t>
            </a:r>
            <a:r>
              <a:rPr sz="950">
                <a:solidFill>
                  <a:srgbClr val="475569"/>
                </a:solidFill>
              </a:rPr>
              <a:t>UDP Multicast (239.0.26.123:26123)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Microcontroller: </a:t>
            </a:r>
            <a:r>
              <a:rPr sz="950">
                <a:solidFill>
                  <a:srgbClr val="475569"/>
                </a:solidFill>
              </a:rPr>
              <a:t>Arduino Uno (C++11, L298N PWM, HC-SR04)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28090"/>
                </a:solidFill>
              </a:rPr>
              <a:t>• Safety Watchdog: </a:t>
            </a:r>
            <a:r>
              <a:rPr sz="950">
                <a:solidFill>
                  <a:srgbClr val="475569"/>
                </a:solidFill>
              </a:rPr>
              <a:t>500ms Serial Timeout Auto-Brake (ISO 3691-4)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B192C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@Cold Start - EdgeBot  |  SIH26123 (BEL)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Cold Start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28016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066CC"/>
                </a:solidFill>
              </a:defRPr>
            </a:pPr>
            <a:r>
              <a:t>FEASIBILITY (Technical, Operational &amp; Economic)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✔ Technical Maturity: </a:t>
            </a:r>
            <a:r>
              <a:rPr sz="950">
                <a:solidFill>
                  <a:srgbClr val="475569"/>
                </a:solidFill>
              </a:rPr>
              <a:t>Pure Rust 2024 engine; 49 integration tests across 11 suites pass with 100% deterministic reliability.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✔ Operational Independence: </a:t>
            </a:r>
            <a:r>
              <a:rPr sz="950">
                <a:solidFill>
                  <a:srgbClr val="475569"/>
                </a:solidFill>
              </a:rPr>
              <a:t>Operates in total radio shadow; peer drop triggers 5-tick dead-chassis conversion &amp; re-auction.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✔ Safety Compliance: </a:t>
            </a:r>
            <a:r>
              <a:rPr sz="950">
                <a:solidFill>
                  <a:srgbClr val="475569"/>
                </a:solidFill>
              </a:rPr>
              <a:t>ISO 3691-4 industrial safety standard; &lt;50ms ultrasonic emergency brake; 500ms serial watchdog.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✔ Hardware-in-the-Loop (HIL): </a:t>
            </a:r>
            <a:r>
              <a:rPr sz="950">
                <a:solidFill>
                  <a:srgbClr val="475569"/>
                </a:solidFill>
              </a:rPr>
              <a:t>Arduino Uno HAL with L298N dual H-bridge motor driver and HC-SR04 ultrasonic rangefinder.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✔ Economic Feasibility: </a:t>
            </a:r>
            <a:r>
              <a:rPr sz="950">
                <a:solidFill>
                  <a:srgbClr val="475569"/>
                </a:solidFill>
              </a:rPr>
              <a:t>Runs on ₹5,000 Raspberry Pi 4B/5 + Arduino; eliminates multi-lakh central server and Wi-Fi infrastructure capex.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17920" y="1188720"/>
            <a:ext cx="5394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400800" y="1280160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VIABILITY (Market, Defense Sovereignty &amp; ROI)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★ Market Opportunity: </a:t>
            </a:r>
            <a:r>
              <a:rPr sz="950">
                <a:solidFill>
                  <a:srgbClr val="475569"/>
                </a:solidFill>
              </a:rPr>
              <a:t>India AMR market growing $92.6M (2026) -&gt; $245M (2031) at 17.6% CAGR; India warehousing reaches $181B by 2035.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★ Strategic (BEL / Defense): </a:t>
            </a:r>
            <a:r>
              <a:rPr sz="950">
                <a:solidFill>
                  <a:srgbClr val="475569"/>
                </a:solidFill>
              </a:rPr>
              <a:t>Indigenous Atmanirbhar coordination engine; breaks dependence on foreign FMS (OTTO/MiR/Geek+).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★ Measurable ROI: </a:t>
            </a:r>
            <a:r>
              <a:rPr sz="950">
                <a:solidFill>
                  <a:srgbClr val="475569"/>
                </a:solidFill>
              </a:rPr>
              <a:t>≥20% throughput boost on existing robot fleets with zero additional server hardware spend.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★ Scalability Model: </a:t>
            </a:r>
            <a:r>
              <a:rPr sz="950">
                <a:solidFill>
                  <a:srgbClr val="475569"/>
                </a:solidFill>
              </a:rPr>
              <a:t>Communication scales with local neighbors O(local), avoiding the O(N^2) server saturation ceiling.</a:t>
            </a:r>
          </a:p>
          <a:p>
            <a:pPr>
              <a:spcAft>
                <a:spcPts val="300"/>
              </a:spcAft>
            </a:pPr>
            <a:r>
              <a:rPr b="1" sz="1000">
                <a:solidFill>
                  <a:srgbClr val="0B192C"/>
                </a:solidFill>
              </a:rPr>
              <a:t>★ Standard Compatibility: </a:t>
            </a:r>
            <a:r>
              <a:rPr sz="950">
                <a:solidFill>
                  <a:srgbClr val="475569"/>
                </a:solidFill>
              </a:rPr>
              <a:t>Directly interoperable with VDA 5050 message formats and ROS2 navigation stacks.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42976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TECHNICAL CHALLENGES &amp; MITIGATIONS</a:t>
            </a:r>
          </a:p>
          <a:p>
            <a:pPr>
              <a:spcAft>
                <a:spcPts val="100"/>
              </a:spcAft>
              <a:defRPr b="1" sz="950">
                <a:solidFill>
                  <a:srgbClr val="B91C1C"/>
                </a:solidFill>
              </a:defRPr>
            </a:pPr>
            <a:r>
              <a:t>• Risk 1: UDP Packet Loss in Steel Warehouse Shadows</a:t>
            </a:r>
          </a:p>
          <a:p>
            <a:pPr>
              <a:spcAft>
                <a:spcPts val="300"/>
              </a:spcAft>
              <a:defRPr sz="900">
                <a:solidFill>
                  <a:srgbClr val="475569"/>
                </a:solidFill>
              </a:defRPr>
            </a:pPr>
            <a:r>
              <a:t>  Mitigation: Monotonic sequence tracking rejects duplicates; periodic 1-tick soft-state heartbeats ensure self-healing telemetry; local ultrasonic HAL triggers emergency stop (&lt;50ms) regardless of network status.</a:t>
            </a:r>
          </a:p>
          <a:p>
            <a:pPr>
              <a:spcAft>
                <a:spcPts val="100"/>
              </a:spcAft>
              <a:defRPr b="1" sz="950">
                <a:solidFill>
                  <a:srgbClr val="B91C1C"/>
                </a:solidFill>
              </a:defRPr>
            </a:pPr>
            <a:r>
              <a:t>• Risk 2: Dynamic Path Contention &amp; Jitter</a:t>
            </a:r>
          </a:p>
          <a:p>
            <a:pPr>
              <a:spcAft>
                <a:spcPts val="300"/>
              </a:spcAft>
              <a:defRPr sz="900">
                <a:solidFill>
                  <a:srgbClr val="475569"/>
                </a:solidFill>
              </a:defRPr>
            </a:pPr>
            <a:r>
              <a:t>  Mitigation: Dynamic windowed reservation table (horizon T=64) prunes stale intents; exponential back-off prevents priority inversion during concurrent replanning.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OPERATIONAL &amp; SAFETY CHALLENGES &amp; MITIGATIONS</a:t>
            </a:r>
          </a:p>
          <a:p>
            <a:pPr>
              <a:spcAft>
                <a:spcPts val="100"/>
              </a:spcAft>
              <a:defRPr b="1" sz="950">
                <a:solidFill>
                  <a:srgbClr val="EA580C"/>
                </a:solidFill>
              </a:defRPr>
            </a:pPr>
            <a:r>
              <a:t>• Risk 1: Circular Deadlock at High-Traffic 4-Way Intersections</a:t>
            </a:r>
          </a:p>
          <a:p>
            <a:pPr>
              <a:spcAft>
                <a:spcPts val="300"/>
              </a:spcAft>
              <a:defRPr sz="900">
                <a:solidFill>
                  <a:srgbClr val="475569"/>
                </a:solidFill>
              </a:defRPr>
            </a:pPr>
            <a:r>
              <a:t>  Mitigation: Onboard Wait-For-Graph DFS detects circular wait cycles in O(V+E) time; deterministic priority rules and Robot ID tiebreakers force lower priority robot to yield and reroute without central intervention.</a:t>
            </a:r>
          </a:p>
          <a:p>
            <a:pPr>
              <a:spcAft>
                <a:spcPts val="100"/>
              </a:spcAft>
              <a:defRPr b="1" sz="950">
                <a:solidFill>
                  <a:srgbClr val="EA580C"/>
                </a:solidFill>
              </a:defRPr>
            </a:pPr>
            <a:r>
              <a:t>• Risk 2: Sudden Hardware / Motor Stall Mid-Corridor</a:t>
            </a:r>
          </a:p>
          <a:p>
            <a:pPr>
              <a:spcAft>
                <a:spcPts val="300"/>
              </a:spcAft>
              <a:defRPr sz="900">
                <a:solidFill>
                  <a:srgbClr val="475569"/>
                </a:solidFill>
              </a:defRPr>
            </a:pPr>
            <a:r>
              <a:t>  Mitigation: Dead robot stops transmitting heartbeats; surviving peers convert last known pose to static obstacle within 5 ticks and auto-re-auction orphaned tasks.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B192C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@Cold Start - EdgeBot  |  SIH26123 (BEL)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Cold Start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62179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280160"/>
            <a:ext cx="5852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CORE IMPACT PILLARS (Quantified &amp; Verified)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• Operational Resilience: </a:t>
            </a:r>
            <a:r>
              <a:rPr sz="900">
                <a:solidFill>
                  <a:srgbClr val="475569"/>
                </a:solidFill>
              </a:rPr>
              <a:t>100% Graceful Degradation. Killing any AMR leaves the surviving fleet operational; tasks re-auctioned within 5 ticks with zero central server intervention.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• Productivity &amp; Throughput: </a:t>
            </a:r>
            <a:r>
              <a:rPr sz="900">
                <a:solidFill>
                  <a:srgbClr val="475569"/>
                </a:solidFill>
              </a:rPr>
              <a:t>Measured 22.2% to 33.1% makespan speedup over Centralized CBS dispatcher across 2 to 8 AMRs; zero bottleneck idle freezes.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• Defense &amp; Strategic Sovereignty: </a:t>
            </a:r>
            <a:r>
              <a:rPr sz="900">
                <a:solidFill>
                  <a:srgbClr val="475569"/>
                </a:solidFill>
              </a:rPr>
              <a:t>Air-gapped edge operation with zero cloud exposure, ideal for high-security defense depots (BEL), ordnance factories, and naval dockyards.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• Capex Reduction: </a:t>
            </a:r>
            <a:r>
              <a:rPr sz="900">
                <a:solidFill>
                  <a:srgbClr val="475569"/>
                </a:solidFill>
              </a:rPr>
              <a:t>10x lower capital expenditure by eliminating centralized industrial servers, expensive Wi-Fi AP grids, and recurring software license fees.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6949440" y="1188720"/>
          <a:ext cx="4663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Centralized FMS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EdgeBot (Ours)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Coordination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Central Server (SPOF)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Decentralized P2P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Wi-Fi Drop Behavior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Entire Fleet Halts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Continues Local Operation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Deadlock Breaking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Manual / Central Freeze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Autonomous WFG DFS Cycle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Hardware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High-End Server + Licenses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₹5,000 Edge Board (RPi+Arduino)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Calibri"/>
                        </a:defRPr>
                      </a:pPr>
                      <a:r>
                        <a:t>Safety Invariant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Probabilistic / Network-reliant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100% Zero Collisions (ISO 3691-4)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4" name="Rounded Rectangle 17413"/>
          <p:cNvSpPr/>
          <p:nvPr/>
        </p:nvSpPr>
        <p:spPr>
          <a:xfrm>
            <a:off x="548640" y="365760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3749039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066CC"/>
                </a:solidFill>
              </a:defRPr>
            </a:pPr>
            <a:r>
              <a:t>SCENARIO 1: CHOKE-POINT NEGOTIATION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>
                <a:solidFill>
                  <a:srgbClr val="475569"/>
                </a:solidFill>
              </a:rPr>
              <a:t>2 AMRs converge head-on in 1-lane narrow corridor.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>
                <a:solidFill>
                  <a:srgbClr val="475569"/>
                </a:solidFill>
              </a:rPr>
              <a:t>Space-Time A* checks peer intent; lower priority robot executes temporal wait in alcove; higher priority robot clears corridor.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Result: </a:t>
            </a:r>
            <a:r>
              <a:rPr sz="900">
                <a:solidFill>
                  <a:srgbClr val="475569"/>
                </a:solidFill>
              </a:rPr>
              <a:t>32 ticks | 0 Collisions | 0 Deadlocks.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Regression Proof: </a:t>
            </a:r>
            <a:r>
              <a:rPr sz="900">
                <a:solidFill>
                  <a:srgbClr val="475569"/>
                </a:solidFill>
              </a:rPr>
              <a:t>Passed in tests/integration_tests.rs::test_two_robot_head_on_corridor.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97680" y="365760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434840" y="3749039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EA580C"/>
                </a:solidFill>
              </a:defRPr>
            </a:pPr>
            <a:r>
              <a:t>SCENARIO 2: DYNAMIC OBSTACLE RE-ROUTE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>
                <a:solidFill>
                  <a:srgbClr val="475569"/>
                </a:solidFill>
              </a:rPr>
              <a:t>Fallen pallet or human worker blocks primary route.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>
                <a:solidFill>
                  <a:srgbClr val="475569"/>
                </a:solidFill>
              </a:rPr>
              <a:t>Local 3-cell sense interface detects obstacle; robot marks cell as dynamic obstacle and triggers instant onboard replanning.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Result: </a:t>
            </a:r>
            <a:r>
              <a:rPr sz="900">
                <a:solidFill>
                  <a:srgbClr val="475569"/>
                </a:solidFill>
              </a:rPr>
              <a:t>Instantaneous replan (&lt;10ms) | 0 Collisions.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Regression Proof: </a:t>
            </a:r>
            <a:r>
              <a:rPr sz="900">
                <a:solidFill>
                  <a:srgbClr val="475569"/>
                </a:solidFill>
              </a:rPr>
              <a:t>Passed in tests/integration_tests.rs::test_dynamic_obstacle_reroute.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46720" y="3657600"/>
            <a:ext cx="35661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183879" y="3749039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SCENARIO 3: GRACEFUL NODE KILL RECOVERY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Condition: </a:t>
            </a:r>
            <a:r>
              <a:rPr sz="900"/>
              <a:t>AMR suffers hardware fault or battery death mid-mission.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Mechanism: </a:t>
            </a:r>
            <a:r>
              <a:rPr sz="900"/>
              <a:t>Surviving peers miss heartbeats (&gt;5 ticks); dead robot pose converted to static obstacle; orphan task auto-broadcasted to auction pool.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Result: </a:t>
            </a:r>
            <a:r>
              <a:rPr sz="900"/>
              <a:t>Task re-awarded in 5 ticks | 100% fleet continuity.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B192C"/>
                </a:solidFill>
              </a:rPr>
              <a:t>• Regression Proof: </a:t>
            </a:r>
            <a:r>
              <a:rPr sz="900"/>
              <a:t>Passed in tests/integration_tests.rs::test_graceful_node_kill_re_auction.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b="1">
                <a:solidFill>
                  <a:srgbClr val="0B192C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@Cold Start - EdgeBot  |  SIH26123 (BEL)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Cold Start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11094415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261872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0B192C"/>
                </a:solidFill>
              </a:defRPr>
            </a:pPr>
            <a:r>
              <a:t>ACADEMIC FOUNDATIONS &amp; SAFETY STANDARDS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Cooperative Pathfinding: </a:t>
            </a:r>
            <a:r>
              <a:rPr sz="1000">
                <a:solidFill>
                  <a:srgbClr val="475569"/>
                </a:solidFill>
              </a:rPr>
              <a:t>Silver (AIIDE 2005) — Space-Time Reservation Tables and Windowed Hierarchical Planning.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Optimal MAPF Baseline: </a:t>
            </a:r>
            <a:r>
              <a:rPr sz="1000">
                <a:solidFill>
                  <a:srgbClr val="475569"/>
                </a:solidFill>
              </a:rPr>
              <a:t>Sharon, Stern, Felner, Sturtevant (AAAI 2012 / AIJ 2015) — Conflict-Based Search (CBS) for Multi-Agent Pathfinding.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Market Task Allocation: </a:t>
            </a:r>
            <a:r>
              <a:rPr sz="1000">
                <a:solidFill>
                  <a:srgbClr val="475569"/>
                </a:solidFill>
              </a:rPr>
              <a:t>Smith (IEEE TC 1980) — Contract Net Protocol &amp; Gerkey/Matarić (IEEE T-RA 2002) MURDOCH Multi-Robot Auctions.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66CC"/>
                </a:solidFill>
              </a:rPr>
              <a:t>• Safety &amp; Interoperability Standards: </a:t>
            </a:r>
            <a:r>
              <a:rPr sz="1000">
                <a:solidFill>
                  <a:srgbClr val="475569"/>
                </a:solidFill>
              </a:rPr>
              <a:t>ISO 3691-4:2023 (Safety of Driverless Industrial Trucks) and VDA 5050 (AGV/AMR Interface Standard).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2880360"/>
            <a:ext cx="5394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297180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SOLUTIONS ALREADY EXIST (Centralized &amp; Proprietary)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Commercial FMS (OTTO Motors, MiR Fleet, Geek+, Locus): Centralized dispatch; single point of failure; vendor lock-in.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Open Source / Standards (openTCS, Open-RMF, VDA 5050): Centralized routing kernel; fails when Wi-Fi disconnects.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Academic Decentralized Papers: Idealized zero-latency simulation only; no physical hardware deployment.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2880360"/>
            <a:ext cx="53949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400800" y="297180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OUR SOLUTION STANDS OUT (EdgeBot)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True P2P Serverless Mesh: Zero central infrastructure; operates reliably in RF dead zones.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Metric-Proven Advantage: +22.2% to +33.1% makespan speedup over CBS baseline with 0 collisions.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Self-Healing Fault Tolerance: Automated deadlock cycle breaking and lost-peer task re-auctions.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Production Edge &amp; HIL: Runs in pure Rust 2024 on ₹5,000 Raspberry Pi + Arduino Uno hardware.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4663440"/>
            <a:ext cx="1109441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0B192C"/>
                </a:solidFill>
              </a:defRPr>
            </a:pPr>
            <a:r>
              <a:t>VERIFIABLE PROJECT ARTIFACTS &amp; DELIVERABLES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Interactive Web Operations Console: </a:t>
            </a:r>
            <a:r>
              <a:rPr sz="950">
                <a:solidFill>
                  <a:srgbClr val="475569"/>
                </a:solidFill>
              </a:rPr>
              <a:t>Real-time telemetry on port 3000 (Axum + WebSockets + HTML5 Canvas) with dynamic wall injection, custom task dispatch, and AMR kill/restore tools.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Automated Test Suite (100% Pass): </a:t>
            </a:r>
            <a:r>
              <a:rPr sz="950">
                <a:solidFill>
                  <a:srgbClr val="475569"/>
                </a:solidFill>
              </a:rPr>
              <a:t>49 passing integration tests across 11 test suites covering auctions, deadlocks, packet loss, sequence dedup, and CBS comparisons (`make test`).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Comparative Benchmark Suite: </a:t>
            </a:r>
            <a:r>
              <a:rPr sz="950">
                <a:solidFill>
                  <a:srgbClr val="475569"/>
                </a:solidFill>
              </a:rPr>
              <a:t>Single-command reproducible benchmark pipeline (`make bench`) evaluating distributed engine vs Centralized CBS across 2, 4, 6, and 8 AMRs.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66CC"/>
                </a:solidFill>
              </a:rPr>
              <a:t>✔ Hardware-in-the-Loop Integration Plan: </a:t>
            </a:r>
            <a:r>
              <a:rPr sz="950">
                <a:solidFill>
                  <a:srgbClr val="475569"/>
                </a:solidFill>
              </a:rPr>
              <a:t>Complete Raspberry Pi + Arduino Uno wiring schematics, serial protocol, and C++ firmware in docs/HARDWARE_INTEGRATION_PLAN.md.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